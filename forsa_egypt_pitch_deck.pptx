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0" y="4572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15600" y="155448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265176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15600" y="374904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15600" y="484632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15600" y="5943600"/>
            <a:ext cx="36576" cy="3657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فرصة</a:t>
            </a:r>
            <a:endParaRPr lang="en-US" sz="6400" dirty="0"/>
          </a:p>
        </p:txBody>
      </p:sp>
      <p:sp>
        <p:nvSpPr>
          <p:cNvPr id="52" name="Text 50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FORSA</a:t>
            </a:r>
            <a:endParaRPr lang="en-US" sz="3800" dirty="0"/>
          </a:p>
        </p:txBody>
      </p:sp>
      <p:sp>
        <p:nvSpPr>
          <p:cNvPr id="53" name="Text 51"/>
          <p:cNvSpPr/>
          <p:nvPr/>
        </p:nvSpPr>
        <p:spPr>
          <a:xfrm>
            <a:off x="9144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Sports Marketplace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players, academies, clinics, agents &amp; parents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platform — Arabic &amp; English — Cairo launch 2026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686800" y="105156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105M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868680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Population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686800" y="22860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686800" y="242316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8686800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Age 18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686800" y="36576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686800" y="379476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8686800" y="4315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686800" y="50292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686800" y="516636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8686800" y="5687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Competitor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73152" cy="59436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Egypt's youth sports sector is completely offline — and broken for all sides.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303520" cy="1051560"/>
          </a:xfrm>
          <a:prstGeom prst="rect">
            <a:avLst/>
          </a:prstGeom>
          <a:solidFill>
            <a:srgbClr val="F7FB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916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🏟️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academies by word-of-mouth or Facebook groups. No way to compare, see prices, or book online.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303520" cy="1051560"/>
          </a:xfrm>
          <a:prstGeom prst="rect">
            <a:avLst/>
          </a:prstGeom>
          <a:solidFill>
            <a:srgbClr val="F7FB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718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to be discovered. Highlights shared on WhatsApp. Agents have no pipeline.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5303520" cy="1051560"/>
          </a:xfrm>
          <a:prstGeom prst="rect">
            <a:avLst/>
          </a:prstGeom>
          <a:solidFill>
            <a:srgbClr val="F7FB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2519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343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presence beyond an Instagram page. Manage schedules in notebooks or WhatsApp groups.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303520" cy="1051560"/>
          </a:xfrm>
          <a:prstGeom prst="rect">
            <a:avLst/>
          </a:prstGeom>
          <a:solidFill>
            <a:srgbClr val="F7FB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6916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phone-only. No way to list services or reach new patients digitally.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971800"/>
            <a:ext cx="5303520" cy="1051560"/>
          </a:xfrm>
          <a:prstGeom prst="rect">
            <a:avLst/>
          </a:prstGeom>
          <a:solidFill>
            <a:srgbClr val="F7FBF9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9718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3063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337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player database. Scout players at training grounds or by personal networks only.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— One Platform, Five Sides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Forsa is the discovery and booking layer for Egypt's youth sports ecosystem.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2286000"/>
            <a:ext cx="2286000" cy="2286000"/>
          </a:xfrm>
          <a:prstGeom prst="ellipse">
            <a:avLst/>
          </a:prstGeom>
          <a:solidFill>
            <a:srgbClr val="1A7F4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فرصة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645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16459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highlights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scouted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4983480"/>
            <a:ext cx="1645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4983480"/>
            <a:ext cx="16459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5120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5550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5852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academies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for kids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777240"/>
            <a:ext cx="1645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777240"/>
            <a:ext cx="16459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programs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0" y="1554480"/>
            <a:ext cx="1645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1554480"/>
            <a:ext cx="16459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calendar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0" y="4069080"/>
            <a:ext cx="1645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0" y="4069080"/>
            <a:ext cx="16459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4636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3544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for players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talent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3200400"/>
            <a:ext cx="3017520" cy="22860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92240" y="3200400"/>
            <a:ext cx="822960" cy="22860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17373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080760" y="4983480"/>
            <a:ext cx="0" cy="-41148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080760" y="2286000"/>
            <a:ext cx="0" cy="-4572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Egypt 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Academies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Cairo alone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Clinics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MOH-licensed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3444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Football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09728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23444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1120" y="1920240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Families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 sports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5292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— Cairo Year 1 → Egypt Year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474720" cy="2560320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2.4B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sports booking + subscription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across Egypt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337560"/>
            <a:ext cx="3474720" cy="2560320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480M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89120" y="4480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Cairo-accessible market: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 + clinics + agents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3337560"/>
            <a:ext cx="34747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3816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24M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29600" y="4480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target: ~5% SAM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academies × 15 bookings × 12 months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advantage: no direct competitor in Egypt today.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— Built &amp; Ready to Launch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built. Frontend complete in React Native (iOS &amp; Android). Backend migration in progress.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 Flows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onboarding, feed, and dashboards for every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002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Accept/Reject → Complete state machine with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87752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587752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support; language toggle in-app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587752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2587752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Upload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integration for photos, highlight reels, videos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75304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575304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959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academies, agents, clinics by city, age group,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575304"/>
            <a:ext cx="5394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575304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959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with read receipts between all roles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562856"/>
            <a:ext cx="5394960" cy="822960"/>
          </a:xfrm>
          <a:prstGeom prst="rect">
            <a:avLst/>
          </a:prstGeom>
          <a:solidFill>
            <a:srgbClr val="FFF8E7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562856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4608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PostgreSQL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from Firebase to custom backend (in progress)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562856"/>
            <a:ext cx="5394960" cy="822960"/>
          </a:xfrm>
          <a:prstGeom prst="rect">
            <a:avLst/>
          </a:prstGeom>
          <a:solidFill>
            <a:srgbClr val="FFF8E7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562856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4608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(Paymob)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progress — EGP online payments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5550408"/>
            <a:ext cx="5394960" cy="822960"/>
          </a:xfrm>
          <a:prstGeom prst="rect">
            <a:avLst/>
          </a:prstGeom>
          <a:solidFill>
            <a:srgbClr val="F9F9F9"/>
          </a:solidFill>
          <a:ln w="190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555040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" y="5596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5934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bookings and messages (planned)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5550408"/>
            <a:ext cx="5394960" cy="822960"/>
          </a:xfrm>
          <a:prstGeom prst="rect">
            <a:avLst/>
          </a:prstGeom>
          <a:solidFill>
            <a:srgbClr val="F9F9F9"/>
          </a:solidFill>
          <a:ln w="190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9360" y="555040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66560" y="5596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5934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Moderation, verification, audit logging (planned)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— How Forsa Makes Money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4389120"/>
          </a:xfrm>
          <a:prstGeom prst="rect">
            <a:avLst/>
          </a:prstGeom>
          <a:solidFill>
            <a:srgbClr val="F7FBF9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560320" cy="7315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booking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Academy: EGP 37.50/booking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Clinic: EGP 60/booking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194560" cy="4572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Yr1 Est: ~EGP 108K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560320" cy="4389120"/>
          </a:xfrm>
          <a:prstGeom prst="rect">
            <a:avLst/>
          </a:prstGeom>
          <a:solidFill>
            <a:srgbClr val="F7FBF9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560320" cy="73152"/>
          </a:xfrm>
          <a:prstGeom prst="rect">
            <a:avLst/>
          </a:prstGeom>
          <a:solidFill>
            <a:srgbClr val="0E6B3D"/>
          </a:solidFill>
          <a:ln w="12700">
            <a:solidFill>
              <a:srgbClr val="0E6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299–599/mo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6334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Academy/Clinic Pro plans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featured listing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bookings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2194560" cy="4572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Yr1 Est: ~EGP 64K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560320" cy="4389120"/>
          </a:xfrm>
          <a:prstGeom prst="rect">
            <a:avLst/>
          </a:prstGeom>
          <a:solidFill>
            <a:srgbClr val="F7FBF9"/>
          </a:solidFill>
          <a:ln w="127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097280"/>
            <a:ext cx="2560320" cy="73152"/>
          </a:xfrm>
          <a:prstGeom prst="rect">
            <a:avLst/>
          </a:prstGeom>
          <a:solidFill>
            <a:srgbClr val="156B3D"/>
          </a:solidFill>
          <a:ln w="12700">
            <a:solidFill>
              <a:srgbClr val="156B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/ Parent Premium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29–49/mo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6334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reel hosting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credits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2194560" cy="4572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Yr1 Est: ~EGP 8K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1097280"/>
            <a:ext cx="2560320" cy="438912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1097280"/>
            <a:ext cx="25603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6968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Leads (Phase 2)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6968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149/mo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61120" y="26334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contacts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database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52560" y="4114800"/>
            <a:ext cx="219456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Yr1 Est: ~EGP 18K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5669280"/>
            <a:ext cx="11338560" cy="914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687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56875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LTV (Yr1): ~EGP 1,600/yr  ·  Academy CAC: ~EGP 400  ·  LTV/CAC: 4×  |  Parent LTV: ~EGP 210  ·  Parent CAC: ~EGP 35  ·  LTV/CAC: 6×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1447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est. Month 12 at 100+ active academies and 200+ monthly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— Cairo First, Supply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3832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383280" cy="9144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Seeding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671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academies + 15 clinics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in Nasr City,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Heliopolis, Maadi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64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 tier for 12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50 partners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616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photography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setup included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33832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6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097280"/>
            <a:ext cx="3383280" cy="914400"/>
          </a:xfrm>
          <a:prstGeom prst="rect">
            <a:avLst/>
          </a:prstGeom>
          <a:solidFill>
            <a:srgbClr val="0E6B3D"/>
          </a:solidFill>
          <a:ln w="12700">
            <a:solidFill>
              <a:srgbClr val="0E6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115568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Beta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224028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21671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invited families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paid ads yet)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33756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3264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bugs, collect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testimonials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43484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43616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10 academy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videos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1097280"/>
            <a:ext cx="33832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63840" y="1097280"/>
            <a:ext cx="338328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1115568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59536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Launch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6720" y="224028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21671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Play 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333756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3264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Instagram/TikTok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push daily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4434840"/>
            <a:ext cx="128016" cy="128016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43616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(EGP 3K/mo budget)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5897880"/>
            <a:ext cx="11612880" cy="7772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943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Channels: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Instagram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TikTok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6656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Google 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2104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75520" y="5961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Events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&amp; 3-Year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08960" y="1051560"/>
            <a:ext cx="146304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146304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51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155448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1051560"/>
            <a:ext cx="155448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1051560"/>
            <a:ext cx="1554480" cy="411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1463040"/>
            <a:ext cx="274320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63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Academies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1463040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463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463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463040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463040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1463040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193852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385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Clinics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193852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19385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93852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9385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1938528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938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193852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938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0" y="193852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1938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2414016"/>
            <a:ext cx="274320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Parents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2414016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2414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2414016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2414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35040" y="2414016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414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89520" y="2414016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2414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44000" y="2414016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2414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288950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8895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/ week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108960" y="2889504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0" y="28895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2889504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28895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035040" y="2889504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2889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589520" y="288950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2889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1K+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44000" y="288950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0" y="2889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4K+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3364992"/>
            <a:ext cx="274320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3649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(EGP)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108960" y="3364992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0" y="3364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572000" y="3364992"/>
            <a:ext cx="146304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0" y="3364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35040" y="3364992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21K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589520" y="3364992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144000" y="3364992"/>
            <a:ext cx="1554480" cy="475488"/>
          </a:xfrm>
          <a:prstGeom prst="rect">
            <a:avLst/>
          </a:prstGeom>
          <a:solidFill>
            <a:srgbClr val="F7FBF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260K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65760" y="384048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840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108960" y="384048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0" y="3840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572000" y="384048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0" y="3840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035040" y="3840480"/>
            <a:ext cx="155448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5040" y="3840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589520" y="3840480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89520" y="3840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Cairo+Alex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144000" y="3840480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44000" y="3840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cities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65760" y="4572000"/>
            <a:ext cx="1143000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00" y="4535424"/>
            <a:ext cx="109728" cy="109728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4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91440" y="5010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743200" y="4535424"/>
            <a:ext cx="109728" cy="109728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3774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2377440" y="5010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029200" y="4535424"/>
            <a:ext cx="109728" cy="109728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634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4663440" y="5010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315200" y="4535424"/>
            <a:ext cx="109728" cy="109728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494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6949440" y="5010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601200" y="4535424"/>
            <a:ext cx="109728" cy="109728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23544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9235440" y="5010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 Pro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Metric: Completed Bookings Per Week — not installs, not sign-ups, not views.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 (EGP)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0" cy="384048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029200"/>
            <a:ext cx="6858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" y="4528268"/>
            <a:ext cx="731520" cy="500932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2244" y="4753687"/>
            <a:ext cx="731520" cy="275513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(2026)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52244" y="4479367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198K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1652" y="4227709"/>
            <a:ext cx="731520" cy="801491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6324" y="3658594"/>
            <a:ext cx="731520" cy="1370606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0212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(2027)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6324" y="338427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985K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75732" y="3776870"/>
            <a:ext cx="731520" cy="1252330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0404" y="1188720"/>
            <a:ext cx="731520" cy="38404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4292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(2028)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80404" y="914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2760K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0" y="5577840"/>
            <a:ext cx="228600" cy="16459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5541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5577840"/>
            <a:ext cx="228600" cy="164592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5541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1188720"/>
            <a:ext cx="1097280" cy="530352"/>
          </a:xfrm>
          <a:prstGeom prst="rect">
            <a:avLst/>
          </a:prstGeom>
          <a:solidFill>
            <a:srgbClr val="1A7F4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188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1188720"/>
            <a:ext cx="1097280" cy="530352"/>
          </a:xfrm>
          <a:prstGeom prst="rect">
            <a:avLst/>
          </a:prstGeom>
          <a:solidFill>
            <a:srgbClr val="1A7F4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1188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875520" y="1188720"/>
            <a:ext cx="1097280" cy="530352"/>
          </a:xfrm>
          <a:prstGeom prst="rect">
            <a:avLst/>
          </a:prstGeom>
          <a:solidFill>
            <a:srgbClr val="1A7F4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1188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0" y="1188720"/>
            <a:ext cx="1097280" cy="530352"/>
          </a:xfrm>
          <a:prstGeom prst="rect">
            <a:avLst/>
          </a:prstGeom>
          <a:solidFill>
            <a:srgbClr val="1A7F4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0" y="11887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1755648"/>
            <a:ext cx="109728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755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(EGP)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1755648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1755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75520" y="1755648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1755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972800" y="1755648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17556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2322576"/>
            <a:ext cx="109728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 (EGP)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2322576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875520" y="2322576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972800" y="2322576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0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80960" y="2889504"/>
            <a:ext cx="109728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28895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(EGP)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778240" y="2889504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0" y="28895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(162K)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875520" y="2889504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0" y="28895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972800" y="2889504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0" y="28895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3456432"/>
            <a:ext cx="109728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3456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778240" y="3456432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0" y="3456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875520" y="3456432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75520" y="3456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972800" y="3456432"/>
            <a:ext cx="1097280" cy="530352"/>
          </a:xfrm>
          <a:prstGeom prst="rect">
            <a:avLst/>
          </a:prstGeom>
          <a:solidFill>
            <a:srgbClr val="F7FB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0" y="3456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680960" y="4023360"/>
            <a:ext cx="109728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40233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778240" y="402336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78240" y="40233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875520" y="402336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0" y="40233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Yr2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972800" y="402336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72800" y="40233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15% commission, 100 Cairo academies by Yr1, Alexandria in Yr2, 3rd city in Yr3.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available in accompanying Excel financial model.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Safety &amp; Legal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Forsa handles minors' data. Safety is a product requirement, not an afterthought.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303520" cy="2057400"/>
          </a:xfrm>
          <a:prstGeom prst="rect">
            <a:avLst/>
          </a:prstGeom>
          <a:solidFill>
            <a:srgbClr val="F7FBF9"/>
          </a:solidFill>
          <a:ln w="127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Trust &amp; 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21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verification (commercial registration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license before going live)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78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 verification before player contact permitted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35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 flow for all players under 16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93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monitoring: flag adult→minor unsolicited messages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5303520" cy="2057400"/>
          </a:xfrm>
          <a:prstGeom prst="rect">
            <a:avLst/>
          </a:prstGeom>
          <a:solidFill>
            <a:srgbClr val="F7FBF9"/>
          </a:solidFill>
          <a:ln w="127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Child Protection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1945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121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accounts under 16 require parent account linkage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26517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578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moderation for any media featuring minors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31089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035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adult-to-child messaging without parent consent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5303520" cy="2057400"/>
          </a:xfrm>
          <a:prstGeom prst="rect">
            <a:avLst/>
          </a:prstGeom>
          <a:solidFill>
            <a:srgbClr val="F7FBF9"/>
          </a:solidFill>
          <a:ln w="127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Legal (Egypt)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407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registration + commercial record (CR)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registration (14%) above EGP 500K threshold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321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+ Privacy Policy in Arabic &amp; English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8521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779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Law 151/2020 compliance (children's data)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3886200"/>
            <a:ext cx="5303520" cy="2057400"/>
          </a:xfrm>
          <a:prstGeom prst="rect">
            <a:avLst/>
          </a:prstGeom>
          <a:solidFill>
            <a:srgbClr val="F7FBF9"/>
          </a:solidFill>
          <a:ln w="127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Clinic Compliance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44805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4407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MOH-licensed clinics only — license # displayed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49377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56832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disclaimer: Forsa is booking facilitator,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medical provider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5394960"/>
            <a:ext cx="91440" cy="91440"/>
          </a:xfrm>
          <a:prstGeom prst="ellipse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5321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Apple/Google: physical services exempt from 30%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purchase rule — confirmed pre-launch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0" y="32004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5943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365760" y="1463040"/>
            <a:ext cx="347472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1463040"/>
            <a:ext cx="347472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0292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1.5M Seed Round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(~USD 30,000)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31089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covering Cairo launch,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integration, team scaling, and Alexandria prep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1463040"/>
            <a:ext cx="347472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0" y="1463040"/>
            <a:ext cx="347472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25196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Intro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Cairo Academies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51960" y="31089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introduction to 10+ academy owners or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federation contact accelerates supply seeding by 60 days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1463040"/>
            <a:ext cx="3474720" cy="32918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A7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63840" y="1463040"/>
            <a:ext cx="347472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800100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Paymob / Payment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Connection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001000" y="31089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Fast-tracking payment gateway setup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rates is worth EGP 50K+ in operational savings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983480"/>
            <a:ext cx="1133856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5120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37744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Product &amp; Tech  ·  30% Marketing &amp; Growth  ·  20% Operations &amp; Onboarding  ·  10% Legal &amp; Contingency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65760" y="62179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فرصة  —  The opportunity to own Egypt's sports marketplace is now.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7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فرصة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 Marketplace for Egypt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us: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[your@email.com]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WhatsApp: +20 [number]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forsa.app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built, frontend complete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3840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5-sided marketplace, Arabic + English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4480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Greenfield — zero direct competition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Cairo supply-first strategy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5760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EGP 1.5M seed round targeted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Forsa — Seed Deck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2026-04-26T09:45:27Z</dcterms:created>
  <dcterms:modified xsi:type="dcterms:W3CDTF">2026-04-26T09:45:27Z</dcterms:modified>
</cp:coreProperties>
</file>